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5943600"/>
          </a:xfrm>
          <a:prstGeom prst="roundRect">
            <a:avLst/>
          </a:prstGeom>
          <a:noFill/>
          <a:ln w="38100">
            <a:solidFill>
              <a:srgbClr val="0E83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KHÓA LUẬN TỐT NGHIỆP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ĐẶT LỊCH KHÁM BỆNH TRỰC TUYẾN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 QUẢN LÝ BỆNH ÁN ĐIỆN TỬ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Web Fullstack: ReactJS - NodeJS (Express) - MySQL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840480"/>
            <a:ext cx="5788152" cy="1828800"/>
          </a:xfrm>
          <a:prstGeom prst="roundRect">
            <a:avLst/>
          </a:prstGeom>
          <a:solidFill>
            <a:srgbClr val="F3F8F8"/>
          </a:solidFill>
          <a:ln w="12700">
            <a:solidFill>
              <a:srgbClr val="0E83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402336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 thực hiện: </a:t>
            </a:r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[Tên của bạn]
</a:t>
            </a:r>
            <a:pPr algn="l" indent="0" marL="0">
              <a:buNone/>
            </a:pPr>
            <a:r>
              <a:rPr lang="en-US" sz="13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số sinh viên: </a:t>
            </a:r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[MSSV của bạn]
</a:t>
            </a:r>
            <a:pPr algn="l" indent="0" marL="0">
              <a:buNone/>
            </a:pPr>
            <a:r>
              <a:rPr lang="en-US" sz="13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hướng dẫn: </a:t>
            </a:r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[Tên Giảng Viên]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438339" cy="54864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 GIỚI THIỆU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38339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2. TỔNG QUAN NGHIÊN CỨU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76678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3. NỘI DUNG &amp; PHƯƠNG PHÁP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017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4. KẾT QUẢ &amp; THẢO LUẬN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53356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5. KẾT LUẬN &amp; ĐỀ NGHỊ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Khóa Luận Tốt Nghiệp: Hệ Thống Đặt Lịch Khám Bệnh Trực Tuyến &amp; Bệnh Án Điện Tử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ĐẶT VẤN ĐỀ &amp; LÝ DO CHỌN ĐỀ TÀI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Trạng Khám Bệnh Truyền Thống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Quá tải tại các phòng khám: Bệnh nhân chen chúc chờ xếp hàng lấy số thứ tự từ sáng sớm.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Lãng phí thời gian và chi phí: Quy trình hành chính thủ công làm tăng thời gian chờ khám.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bệnh án rời rạc: Bệnh án giấy dễ rách nát, thất lạc, bác sĩ khó tra cứu tiền sử bệnh cũ.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soát tài chính phân mảnh: Bộ phận bác sĩ chẩn đoán và quầy thu ngân thu phí chưa liên thông tức thời.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Cần Thiết &amp; Ý Nghĩa Đồ Án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góp vào đề án Chuyển đổi số Y tế: Thực hiện kế hoạch số hóa hồ sơ bệnh án của Bộ Y Tế.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hóa dòng dữ liệu y khoa khép kín: Kết nối 3 chủ thể Bệnh nhân - Bác sĩ - Admin.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hóa năng lực vận hành: Rút ngắn 80% thời gian làm thủ tục tại quầy tiếp đón.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Fullstack hiện đại: Sử dụng ReactJS, NodeJS và MySQL nâng cao hiệu năng hệ thống.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438339" cy="54864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 GIỚI THIỆU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38339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2. TỔNG QUAN NGHIÊN CỨU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76678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3. NỘI DUNG &amp; PHƯƠNG PHÁP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017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4. KẾT QUẢ &amp; THẢO LUẬN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53356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5. KẾT LUẬN &amp; ĐỀ NGHỊ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Khóa Luận Tốt Nghiệp: Hệ Thống Đặt Lịch Khám Bệnh Trực Tuyến &amp; Bệnh Án Điện Tử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YÊU CẦU CỦA ĐỀ TÀI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Nghiên Cứu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ứng dụng web hoàn chỉnh hỗ trợ hoạt động đặt lịch khám bệnh ngoại trú và bệnh án điện tử.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hóa luồng xác thực và trả lời bệnh nhân qua email (Nodemailer SMTP).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bệnh án điện tử chi tiết hỗ trợ bác sĩ lâm sàng kê đơn thuốc số trực tiếp.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lập module thanh toán lâm sàng động và hỗ trợ in hóa đơn tức thời ngay tại quầy hành chính.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Kỹ Thuật Đạt Được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Giao diện Responsive cao cấp tương thích thiết bị PC, Tablet, Smartphone.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API RESTful bảo mật tối đa bằng cơ chế phân quyền JSON Web Token (JWT).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Cơ sở dữ liệu quan hệ MySQL chuẩn hóa 3NF, loại bỏ dư thừa và tối ưu hóa chỉ mục (Index).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Trải nghiệm sử dụng: Thời gian phản hồi trang dưới 1.5 giây, đảm bảo tính trực quan.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1. GIỚI THIỆU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38339" y="0"/>
            <a:ext cx="2438339" cy="54864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 TỔNG QUAN NGHIÊN CỨU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76678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3. NỘI DUNG &amp; PHƯƠNG PHÁP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017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4. KẾT QUẢ &amp; THẢO LUẬN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53356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5. KẾT LUẬN &amp; ĐỀ NGHỊ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Khóa Luận Tốt Nghiệp: Hệ Thống Đặt Lịch Khám Bệnh Trực Tuyến &amp; Bệnh Án Điện Tử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TÌNH HÌNH NGHIÊN CỨU TRONG &amp; NGOÀI NƯỚC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Trạng Ứng Dụng Trong Nước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nền tảng đặt lịch như Medpro, YouMed đã phổ biến nhưng chủ yếu áp dụng ở bệnh viện tuyến đầu.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hỗ trợ khép kín quy trình y khoa: Đăng ký đặt lịch thường tách biệt hoàn toàn với hệ thống ghi nhận bệnh án lâm sàng của bác sĩ.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soát doanh thu dịch vụ lâm sàng (siêu âm, chụp X-quang) tại quầy phòng khám vừa và nhỏ vẫn xử lý thủ công.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Ngoài Nước &amp; Tính Cấp Thiết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Zocdoc (Mỹ), Halodoc (Indonesia) giải quyết đặt lịch và bệnh án điện tử thông qua SaaS đám mây.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Rào cản áp dụng tại Việt Nam: Bản quyền đắt đỏ, quy trình phòng khám nội địa và phương thức thanh toán đặc thù (MoMo, QR động) chưa được hỗ trợ.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cấp thiết của đề tài: Phát triển giải pháp tối ưu chi phí, tương thích sâu với nghiệp vụ y khoa Việt Nam.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1. GIỚI THIỆU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38339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2. TỔNG QUAN NGHIÊN CỨU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76678" y="0"/>
            <a:ext cx="2438339" cy="54864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 NỘI DUNG &amp; PHƯƠNG PHÁP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017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4. KẾT QUẢ &amp; THẢO LUẬN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53356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5. KẾT LUẬN &amp; ĐỀ NGHỊ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Khóa Luận Tốt Nghiệp: Hệ Thống Đặt Lịch Khám Bệnh Trực Tuyến &amp; Bệnh Án Điện Tử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PHƯƠNG PHÁP NGHIÊN CỨU &amp; CÔNG CỤ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Pháp Nghiên Cứu Khoa Học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pháp phân tích &amp; thiết kế hướng đối tượng (OOAD): Sử dụng sơ đồ Use Case, Sequence Diagram và thực thể ERD.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phát triển phần mềm Agile/Scrum: Chia nhỏ sprint phát triển và kiểm thử liên tục.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thực nghiệm phần mềm: Chạy giả lập dữ liệu tải trên localhost, sử dụng Postman đối soát API.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 &amp; Nền Tảng Kỹ Thuật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lập trình chính: Visual Studio Code tích hợp Git, ESLint.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 (v16+) &amp; Express cung cấp dịch vụ Server non-blocking I/O hiệu năng cao.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ReactJS, Redux Store quản lý state đồng bộ toàn hệ thống.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Cấu hình: MySQL Database, Sequelize ORM + CLI quản trị và đồng bộ migration cơ sở dữ liệu.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1. GIỚI THIỆU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38339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2. TỔNG QUAN NGHIÊN CỨU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76678" y="0"/>
            <a:ext cx="2438339" cy="54864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 NỘI DUNG &amp; PHƯƠNG PHÁP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017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4. KẾT QUẢ &amp; THẢO LUẬN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53356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5. KẾT LUẬN &amp; ĐỀ NGHỊ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Khóa Luận Tốt Nghiệp: Hệ Thống Đặt Lịch Khám Bệnh Trực Tuyến &amp; Bệnh Án Điện Tử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NGHIÊN CỨU &amp; PHÂN HỆ HỆ THỐNG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Khám Ngoại Trú Đề Xuất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Bệnh nhân đăng ký trực tuyến -&gt; Hệ thống gửi mail xác thực OTP token bảo mật -&gt; Đổi trạng thái lịch khám.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sĩ theo dõi danh sách ca trực theo ngày -&gt; Tiến hành khám chẩn đoán lâm sàng -&gt; Kê đơn thuốc số.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tiếp nhận hồ sơ -&gt; Thực hiện thu phí lâm sàng động -&gt; In hóa đơn và hoàn tất thủ tục.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Hệ Chức Năng Chính (18 Chức Năng)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Bệnh nhân (Patient): Tìm kiếm bác sĩ, chuyên khoa, đặt hẹn trực tuyến 24/7, xác nhận lịch qua email, tra cứu lịch sử khám, tự hủy lịch đặt.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sĩ (Doctor): Đăng nhập phân quyền, quản lý bệnh nhân chờ khám, in bệnh án lâm sàng, gửi email kết quả đơn thuốc điện tử.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(System): CRUD người dùng/dịch vụ bác sĩ, đăng ký ca khám (Bulk Create), quản lý phòng khám, đối soát chi phí, in hóa đơn.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1. GIỚI THIỆU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38339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2. TỔNG QUAN NGHIÊN CỨU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76678" y="0"/>
            <a:ext cx="2438339" cy="54864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 NỘI DUNG &amp; PHƯƠNG PHÁP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017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4. KẾT QUẢ &amp; THẢO LUẬN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53356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5. KẾT LUẬN &amp; ĐỀ NGHỊ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Khóa Luận Tốt Nghiệp: Hệ Thống Đặt Lịch Khám Bệnh Trực Tuyến &amp; Bệnh Án Điện Tử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SỞ DỮ LIỆU &amp; QUAN HỆ THỰC THỂ (ERD)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Lược Đồ Cơ Sở Dữ Liệu MySQL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Gồm 10 bảng dữ liệu chính (`users`, `bookings`, `histories`, `schedules`, `doctor_infor`, `clinics`, `specialties`...) được chuẩn hóa 3NF.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Sequelize CLI quản lý các migration cấu trúc bảng và seeding dữ liệu từ điển hệ thống.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Mối quan hệ Nhiều-Nhiều giữa bác sĩ và phòng khám/chuyên khoa được chuẩn hóa thông qua bảng liên kết trung gian.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Từ Điển Allcode Trung Tâm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`allcodes` chứa các cặp giá trị ánh xạ (keyMap -&gt; valueVi, valueEn) làm từ điển dùng chung.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danh mục toàn cục: giới tính, học hàm, trạng thái lịch hẹn (S1 -&gt; S4), khung giờ khám.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biệt dữ liệu và mã hóa hiển thị, giúp dễ dàng nâng cấp đa ngôn ngữ (Việt - Anh) và thay đổi cấu hình mà không sửa đổi code.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1. GIỚI THIỆU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38339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2. TỔNG QUAN NGHIÊN CỨU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76678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3. NỘI DUNG &amp; PHƯƠNG PHÁP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017" y="0"/>
            <a:ext cx="2438339" cy="54864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 KẾT QUẢ &amp; THẢO LUẬN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53356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5. KẾT LUẬN &amp; ĐỀ NGHỊ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Khóa Luận Tốt Nghiệp: Hệ Thống Đặt Lịch Khám Bệnh Trực Tuyến &amp; Bệnh Án Điện Tử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KẾT QUẢ: PHÂN HỆ BỆNH NHÂN (PATIENT)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Đặt Lịch &amp; Kích Hoạt Lịch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 tìm kiếm Live Search nhanh theo tên bác sĩ hoặc chuyên khoa trực quan.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thông tin đặt hẹn nhanh mà không bắt buộc đăng nhập tài khoản y tế.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xác thực bảo mật: Gửi email tự động chứa One-time link đính kèm token UUID. Click link để kích hoạt lịch hẹn chuyển từ trạng thái S1 sang S2.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Tự Phục Vụ (Self-Service)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 cứu lịch sử khám: Bệnh nhân tự tra cứu tất cả hồ sơ đặt hẹn và kết quả bệnh án cũ qua email.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chỉnh sửa thông tin: Cập nhật thông tin cá nhân sai lệch tại quầy thông qua `EditPatientModal`.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chế cảnh báo bảo mật: Hệ thống kích hoạt gửi email cảnh báo tự động về Gmail bệnh nhân ngay khi phát sinh thay đổi hồ sơ.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1. GIỚI THIỆU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38339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2. TỔNG QUAN NGHIÊN CỨU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76678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3. NỘI DUNG &amp; PHƯƠNG PHÁP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017" y="0"/>
            <a:ext cx="2438339" cy="54864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 KẾT QUẢ &amp; THẢO LUẬN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53356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5. KẾT LUẬN &amp; ĐỀ NGHỊ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Khóa Luận Tốt Nghiệp: Hệ Thống Đặt Lịch Khám Bệnh Trực Tuyến &amp; Bệnh Án Điện Tử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QUẢ: PHÂN HỆ BÁC SĨ (DOCTOR)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Lâm Sàng &amp; Đơn Thuốc Số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quản lý danh sách bệnh nhân chờ khám theo ngày của bác sĩ trực quan.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Bệnh án điện tử: Khi mở `MedicalRecordModal`, hệ thống tự động gọi API lấy toàn bộ bệnh án cũ hiển thị ở cột trái giúp bác sĩ nắm tiền sử.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Kê đơn thuốc số và chỉ định cận lâm sàng nhanh chóng trực tiếp trên biểu mẫu giao diện.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Dữ Liệu &amp; In Bệnh Án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 tối ưu: Đơn thuốc và phí lâm sàng chỉ định được đóng gói dạng chuỗi JSON lưu tại cột `description` bảng `Histories`.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Bệnh Án trực tiếp: Cho phép bác sĩ in nhanh bệnh án giấy cho bệnh nhân cầm đi phòng xét nghiệm.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email đơn thuốc tự động: Ngay khi khám xong (S2 -&gt; S3), gửi email đính kèm file ảnh đơn thuốc chụp bản cứng tới bệnh nhân.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1. GIỚI THIỆU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38339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2. TỔNG QUAN NGHIÊN CỨU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76678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3. NỘI DUNG &amp; PHƯƠNG PHÁP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017" y="0"/>
            <a:ext cx="2438339" cy="54864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 KẾT QUẢ &amp; THẢO LUẬN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53356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5. KẾT LUẬN &amp; ĐỀ NGHỊ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Khóa Luận Tốt Nghiệp: Hệ Thống Đặt Lịch Khám Bệnh Trực Tuyến &amp; Bệnh Án Điện Tử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QUẢ: PHÂN HỆ QUẢN TRỊ &amp; THANH TOÁN (ADMIN)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Nghiệp Vụ Thu Phí Lâm Sàng Động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ConfirmPaymentModal: Tự động trích xuất các chỉ dịch dịch vụ lâm sàng (siêu âm, xét nghiệm...) từ kết quả khám gần nhất của bác sĩ.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tính phí động: Quản trị viên nhập đơn giá thực tế cho từng dịch vụ phát sinh.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tính tổng tiền: Tổng tiền = Phí khám bác sĩ gốc + Phí xét nghiệm cận lâm sàng phát sinh.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Soát Tài Chính &amp; In Hóa Đơn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nhận nhiều hình thức thanh toán đa dạng: Tiền mặt, Chuyển khoản, Thẻ, MoMo, ZaloPay.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 đối soát: Cập nhật trường `isPaid = 1` và đẩy chi tiết hóa đơn vào JSON bệnh án để kiểm soát dòng tiền.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hóa đơn tại quầy: Kích hoạt `window.print()` in hóa đơn chi tiết trực tiếp qua trình duyệt nhanh chóng.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1. GIỚI THIỆU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38339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2. TỔNG QUAN NGHIÊN CỨU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76678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3. NỘI DUNG &amp; PHƯƠNG PHÁP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017" y="0"/>
            <a:ext cx="2438339" cy="54864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 KẾT QUẢ &amp; THẢO LUẬN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53356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5. KẾT LUẬN &amp; ĐỀ NGHỊ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Khóa Luận Tốt Nghiệp: Hệ Thống Đặt Lịch Khám Bệnh Trực Tuyến &amp; Bệnh Án Điện Tử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PHI CHỨC NĂNG &amp; THỰC NGHIỆM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 Và Phòng Ngừa Tấn Công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quyền API: Middleware kiểm tra JWT token và quyền vai trò (`roleId`) đối với Admin và Bác sĩ.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hóa mật khẩu: Sử dụng thư viện `bcryptjs` mã hóa 1 chiều trước khi lưu database.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chống tấn công: SQL Injection bị chặn đứng nhờ Sequelize Parameterized Queries. Tấn công XSS được ReactJS ngăn chặn nhờ cơ chế auto-escape DOM.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Năng &amp; Khả Năng Thích Ứng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Tốc độ phản hồi: Phản hồi tải trang ban đầu và API dưới 1.5 giây (trung bình xử lý API 50ms - 100ms).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đồng thời: Máy chủ Node.js Express non-blocking hướng sự kiện hoạt động mượt mà khi giả lập tải nhiều kết nối.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tương thích (Responsive UX): Co giãn linh hoạt trên PC, Laptop, Máy tính bảng và Điện thoại di động.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1. GIỚI THIỆU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38339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2. TỔNG QUAN NGHIÊN CỨU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76678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3. NỘI DUNG &amp; PHƯƠNG PHÁP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017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4. KẾT QUẢ &amp; THẢO LUẬN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53356" y="0"/>
            <a:ext cx="2438339" cy="54864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5. KẾT LUẬN &amp; ĐỀ NGHỊ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Khóa Luận Tốt Nghiệp: Hệ Thống Đặt Lịch Khám Bệnh Trực Tuyến &amp; Bệnh Án Điện Tử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KẾT LUẬN ĐỒ ÁN / KHÓA LUẬN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Kết Quả Đã Đạt Được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100% mục tiêu chức năng: Xây dựng hệ thống web SERN stack hoàn chỉnh 18 chức năng nghiệp vụ y tế.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Đồng bộ hóa quy trình y khoa khép kín: Giảm thiểu thủ tục hành chính, số hóa bệnh án điện tử, liên thông đối soát chi phí.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chủ công nghệ: Vận hành tốt mô hình Single Page Application kết hợp RESTful API bảo mật cao.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Điểm Còn Hạn Chế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thanh toán trực tuyến tự động chưa kết nối trực tiếp đến cổng ngân hàng (bệnh nhân chưa thể trả phí online từ xa).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hỗ trợ kênh thông báo nhắc lịch tự động qua tin nhắn SMS / Zalo trước ca trực.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chẩn đoán bệnh án điện tử trong CSDL MySQL mới chỉ lưu dạng JSON thô chưa áp dụng thuật toán mã hóa sâu.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1. GIỚI THIỆU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38339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2. TỔNG QUAN NGHIÊN CỨU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76678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3. NỘI DUNG &amp; PHƯƠNG PHÁP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017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4. KẾT QUẢ &amp; THẢO LUẬN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53356" y="0"/>
            <a:ext cx="2438339" cy="54864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5. KẾT LUẬN &amp; ĐỀ NGHỊ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Khóa Luận Tốt Nghiệp: Hệ Thống Đặt Lịch Khám Bệnh Trực Tuyến &amp; Bệnh Án Điện Tử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NGHỊ &amp; HƯỚNG PHÁT TRIỂN TƯƠNG LAI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Nghị Nâng Cấp Chức Năng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cổng thanh toán trực tuyến (VNPAY, PayOS, MoMo): Tự động chuyển trạng thái hóa đơn (`isPaid = 1`) từ xa.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vụ SMS/Zalo nhắc lịch: Sử dụng Twilio hoặc eSMS để nhắc nhở bệnh nhân trước ca hẹn 24 giờ.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 vấn trực tuyến (Telemedicine): Phát triển kênh khám từ xa bằng WebRTC video call trực tuyến.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Nghị Nâng Cấp Bảo Mật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hóa dữ liệu y khoa nhạy cảm: Áp dụng mã hóa bất đối xứng AES/RSA bảo vệ thông tin chẩn đoán trong database.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 2 yếu tố (2FA / OTP): Gửi mã OTP qua số điện thoại khi bệnh nhân yêu cầu cập nhật thông tin cá nhân hoặc hủy lịch khám.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1. GIỚI THIỆU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38339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2. TỔNG QUAN NGHIÊN CỨU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76678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3. NỘI DUNG &amp; PHƯƠNG PHÁP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017" y="0"/>
            <a:ext cx="2438339" cy="548640"/>
          </a:xfrm>
          <a:prstGeom prst="rect">
            <a:avLst/>
          </a:prstGeom>
          <a:solidFill>
            <a:srgbClr val="2E4F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C2C2"/>
                </a:solidFill>
              </a:rPr>
              <a:t>4. KẾT QUẢ &amp; THẢO LUẬN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53356" y="0"/>
            <a:ext cx="2438339" cy="548640"/>
          </a:xfrm>
          <a:prstGeom prst="rect">
            <a:avLst/>
          </a:prstGeom>
          <a:solidFill>
            <a:srgbClr val="0E83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5. KẾT LUẬN &amp; ĐỀ NGHỊ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E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Khóa Luận Tốt Nghiệp: Hệ Thống Đặt Lịch Khám Bệnh Trực Tuyến &amp; Bệnh Án Điện Tử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THAM KHẢO &amp; LỜI CẢM ƠN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Tham Khảo Chính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Nguyễn Văn A (2020), Giáo trình phát triển ứng dụng Web hiện đại với ReactJS và NodeJS, NXB KH&amp;KT.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Trần Thị B (2022), Nghiên cứu quy trình chuyển đổi số và quản lý hồ sơ bệnh án điện tử tại Việt Nam, Luận án Tiến sĩ.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Lê Văn C (2023), Tối ưu hóa cơ sở dữ liệu lớn và truy vấn Sequelize ORM trong ứng dụng y tế, Tạp chí KH&amp;CN VN.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Lời Cảm Ơn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828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xin gửi lời cảm ơn chân thành tới Quý thầy cô trong Hội đồng bảo vệ đã dành thời gian theo dõi.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Rất mong nhận được các ý kiến nhận xét và đóng góp từ thầy cô để đồ án của chúng em ngày càng hoàn thiện hơn.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xin kính chúc thầy cô sức khỏe và thành công!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2026-06-16T15:21:37Z</dcterms:created>
  <dcterms:modified xsi:type="dcterms:W3CDTF">2026-06-16T15:21:37Z</dcterms:modified>
</cp:coreProperties>
</file>